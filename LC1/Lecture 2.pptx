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648" r:id="rId1"/>
  </p:sldMasterIdLst>
  <p:notesMasterIdLst>
    <p:notesMasterId r:id="rId13"/>
  </p:notesMasterIdLst>
  <p:sldIdLst>
    <p:sldId id="256" r:id="rId2"/>
    <p:sldId id="273" r:id="rId3"/>
    <p:sldId id="263" r:id="rId4"/>
    <p:sldId id="279" r:id="rId5"/>
    <p:sldId id="281" r:id="rId6"/>
    <p:sldId id="280" r:id="rId7"/>
    <p:sldId id="282" r:id="rId8"/>
    <p:sldId id="284" r:id="rId9"/>
    <p:sldId id="283" r:id="rId10"/>
    <p:sldId id="286" r:id="rId11"/>
    <p:sldId id="287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0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42" y="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凯淇 吴" userId="c606d5c88c64f719" providerId="LiveId" clId="{E50B4136-8F1A-4E32-BA9E-AE829EFBB41E}"/>
    <pc:docChg chg="modSld">
      <pc:chgData name="凯淇 吴" userId="c606d5c88c64f719" providerId="LiveId" clId="{E50B4136-8F1A-4E32-BA9E-AE829EFBB41E}" dt="2024-09-09T08:28:41.561" v="3" actId="20577"/>
      <pc:docMkLst>
        <pc:docMk/>
      </pc:docMkLst>
      <pc:sldChg chg="modSp mod">
        <pc:chgData name="凯淇 吴" userId="c606d5c88c64f719" providerId="LiveId" clId="{E50B4136-8F1A-4E32-BA9E-AE829EFBB41E}" dt="2024-09-09T08:28:41.561" v="3" actId="20577"/>
        <pc:sldMkLst>
          <pc:docMk/>
          <pc:sldMk cId="0" sldId="256"/>
        </pc:sldMkLst>
        <pc:spChg chg="mod">
          <ac:chgData name="凯淇 吴" userId="c606d5c88c64f719" providerId="LiveId" clId="{E50B4136-8F1A-4E32-BA9E-AE829EFBB41E}" dt="2024-09-09T08:28:41.561" v="3" actId="20577"/>
          <ac:spMkLst>
            <pc:docMk/>
            <pc:sldMk cId="0" sldId="256"/>
            <ac:spMk id="2" creationId="{00000000-0000-0000-0000-000000000000}"/>
          </ac:spMkLst>
        </pc:spChg>
      </pc:sldChg>
    </pc:docChg>
  </pc:docChgLst>
  <pc:docChgLst>
    <pc:chgData name="凯淇 吴" userId="c606d5c88c64f719" providerId="LiveId" clId="{08C64427-8617-4110-B0AE-054A4990A6B6}"/>
    <pc:docChg chg="modSld">
      <pc:chgData name="凯淇 吴" userId="c606d5c88c64f719" providerId="LiveId" clId="{08C64427-8617-4110-B0AE-054A4990A6B6}" dt="2024-09-13T07:47:29.059" v="7" actId="20577"/>
      <pc:docMkLst>
        <pc:docMk/>
      </pc:docMkLst>
      <pc:sldChg chg="modSp mod">
        <pc:chgData name="凯淇 吴" userId="c606d5c88c64f719" providerId="LiveId" clId="{08C64427-8617-4110-B0AE-054A4990A6B6}" dt="2024-09-13T07:39:51.677" v="0" actId="20577"/>
        <pc:sldMkLst>
          <pc:docMk/>
          <pc:sldMk cId="0" sldId="282"/>
        </pc:sldMkLst>
        <pc:spChg chg="mod">
          <ac:chgData name="凯淇 吴" userId="c606d5c88c64f719" providerId="LiveId" clId="{08C64427-8617-4110-B0AE-054A4990A6B6}" dt="2024-09-13T07:39:51.677" v="0" actId="20577"/>
          <ac:spMkLst>
            <pc:docMk/>
            <pc:sldMk cId="0" sldId="282"/>
            <ac:spMk id="3" creationId="{00000000-0000-0000-0000-000000000000}"/>
          </ac:spMkLst>
        </pc:spChg>
      </pc:sldChg>
      <pc:sldChg chg="modSp mod">
        <pc:chgData name="凯淇 吴" userId="c606d5c88c64f719" providerId="LiveId" clId="{08C64427-8617-4110-B0AE-054A4990A6B6}" dt="2024-09-13T07:47:29.059" v="7" actId="20577"/>
        <pc:sldMkLst>
          <pc:docMk/>
          <pc:sldMk cId="0" sldId="283"/>
        </pc:sldMkLst>
        <pc:spChg chg="mod">
          <ac:chgData name="凯淇 吴" userId="c606d5c88c64f719" providerId="LiveId" clId="{08C64427-8617-4110-B0AE-054A4990A6B6}" dt="2024-09-13T07:47:29.059" v="7" actId="20577"/>
          <ac:spMkLst>
            <pc:docMk/>
            <pc:sldMk cId="0" sldId="283"/>
            <ac:spMk id="4" creationId="{00000000-0000-0000-0000-000000000000}"/>
          </ac:spMkLst>
        </pc:spChg>
      </pc:sldChg>
      <pc:sldChg chg="modSp mod">
        <pc:chgData name="凯淇 吴" userId="c606d5c88c64f719" providerId="LiveId" clId="{08C64427-8617-4110-B0AE-054A4990A6B6}" dt="2024-09-13T07:45:01.454" v="5" actId="20577"/>
        <pc:sldMkLst>
          <pc:docMk/>
          <pc:sldMk cId="0" sldId="284"/>
        </pc:sldMkLst>
        <pc:spChg chg="mod">
          <ac:chgData name="凯淇 吴" userId="c606d5c88c64f719" providerId="LiveId" clId="{08C64427-8617-4110-B0AE-054A4990A6B6}" dt="2024-09-13T07:45:01.454" v="5" actId="20577"/>
          <ac:spMkLst>
            <pc:docMk/>
            <pc:sldMk cId="0" sldId="284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56D1E0-6BE0-4E15-A7C1-47199E0DF7D9}" type="datetimeFigureOut">
              <a:rPr lang="zh-CN" altLang="en-US" smtClean="0"/>
              <a:t>2024/09/13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1D038A-178A-4CD8-BF65-AF46F5084F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5059E-92DA-4447-B286-422C1C18CA39}" type="datetime1">
              <a:rPr lang="zh-CN" altLang="en-US" smtClean="0"/>
              <a:t>2024/09/13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34F8-B456-4D2C-B6B6-BB4E8935ED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04163-DC28-48CC-84F5-12ABE14FE89F}" type="datetime1">
              <a:rPr lang="zh-CN" altLang="en-US" smtClean="0"/>
              <a:t>2024/09/13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34F8-B456-4D2C-B6B6-BB4E8935ED8C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F5CBE-256E-4439-B5A1-4C46324A59AF}" type="datetime1">
              <a:rPr lang="zh-CN" altLang="en-US" smtClean="0"/>
              <a:t>2024/09/13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34F8-B456-4D2C-B6B6-BB4E8935ED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17516-DD2D-45AB-A003-9B8DB85B6D9E}" type="datetime1">
              <a:rPr lang="zh-CN" altLang="en-US" smtClean="0"/>
              <a:t>2024/09/13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34F8-B456-4D2C-B6B6-BB4E8935ED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1BAAA-C460-4A20-9A94-28A603A090C0}" type="datetime1">
              <a:rPr lang="zh-CN" altLang="en-US" smtClean="0"/>
              <a:t>2024/09/13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34F8-B456-4D2C-B6B6-BB4E8935ED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0FB05-9225-4CD7-8944-551AF5EAA7AC}" type="datetime1">
              <a:rPr lang="zh-CN" altLang="en-US" smtClean="0"/>
              <a:t>2024/09/13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34F8-B456-4D2C-B6B6-BB4E8935ED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A795F-9A67-4E19-A0CA-82B2591426A6}" type="datetime1">
              <a:rPr lang="zh-CN" altLang="en-US" smtClean="0"/>
              <a:t>2024/09/13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34F8-B456-4D2C-B6B6-BB4E8935ED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E3AE2-2B65-4FC4-8731-8B86742534A6}" type="datetime1">
              <a:rPr lang="zh-CN" altLang="en-US" smtClean="0"/>
              <a:t>2024/09/13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34F8-B456-4D2C-B6B6-BB4E8935ED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8829A-88B9-4BDF-82AE-A6B0D7FBE5E0}" type="datetime1">
              <a:rPr lang="zh-CN" altLang="en-US" smtClean="0"/>
              <a:t>2024/09/13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34F8-B456-4D2C-B6B6-BB4E8935ED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20E14-BD34-4A16-BEA6-61BFDCB6EE13}" type="datetime1">
              <a:rPr lang="zh-CN" altLang="en-US" smtClean="0"/>
              <a:t>2024/09/13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34F8-B456-4D2C-B6B6-BB4E8935ED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83441-43CF-4600-A581-2728B3BC4035}" type="datetime1">
              <a:rPr lang="zh-CN" altLang="en-US" smtClean="0"/>
              <a:t>2024/09/13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34F8-B456-4D2C-B6B6-BB4E8935ED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2D1992-018F-4C3E-97AC-BDF9A7AFECC8}" type="datetime1">
              <a:rPr lang="zh-CN" altLang="en-US" smtClean="0"/>
              <a:t>2024/09/13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5334F8-B456-4D2C-B6B6-BB4E8935ED8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758043" y="1024392"/>
            <a:ext cx="9144000" cy="2387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2</a:t>
            </a:r>
            <a:r>
              <a:rPr lang="zh-CN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Fall 2024/2025</a:t>
            </a:r>
            <a:br>
              <a:rPr lang="en-US" altLang="zh-C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en-US" sz="4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数据库系统实验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612086" cy="2423205"/>
          </a:xfrm>
        </p:spPr>
        <p:txBody>
          <a:bodyPr>
            <a:normAutofit/>
          </a:bodyPr>
          <a:lstStyle/>
          <a:p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Yubao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Liu (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刘玉葆）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 of Data and Computer Science</a:t>
            </a:r>
          </a:p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Sun </a:t>
            </a:r>
            <a:r>
              <a:rPr lang="en-US" altLang="zh-C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Yat-sen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University</a:t>
            </a:r>
          </a:p>
          <a:p>
            <a:endParaRPr lang="zh-CN" alt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62560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本节课提纲</a:t>
            </a:r>
          </a:p>
        </p:txBody>
      </p:sp>
      <p:sp>
        <p:nvSpPr>
          <p:cNvPr id="4" name="矩形 3"/>
          <p:cNvSpPr/>
          <p:nvPr/>
        </p:nvSpPr>
        <p:spPr>
          <a:xfrm>
            <a:off x="1374263" y="1488123"/>
            <a:ext cx="1802096" cy="37856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latinLnBrk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实验目的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latinLnBrk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latinLnBrk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实验示例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latinLnBrk="1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练习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latinLnBrk="1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8610600" y="6518910"/>
            <a:ext cx="2743200" cy="365125"/>
          </a:xfrm>
        </p:spPr>
        <p:txBody>
          <a:bodyPr/>
          <a:lstStyle/>
          <a:p>
            <a:fld id="{775334F8-B456-4D2C-B6B6-BB4E8935ED8C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43840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实验目的</a:t>
            </a:r>
          </a:p>
        </p:txBody>
      </p:sp>
      <p:sp>
        <p:nvSpPr>
          <p:cNvPr id="4" name="矩形 3"/>
          <p:cNvSpPr/>
          <p:nvPr/>
        </p:nvSpPr>
        <p:spPr>
          <a:xfrm>
            <a:off x="1389378" y="1569403"/>
            <a:ext cx="10172701" cy="21968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熟悉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的数据定义语言，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能够熟练地使用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语句来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更改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创建和取消索引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</a:p>
          <a:p>
            <a:pPr>
              <a:lnSpc>
                <a:spcPct val="200000"/>
              </a:lnSpc>
            </a:pPr>
            <a:endParaRPr lang="zh-CN" altLang="en-US" sz="2400" b="0" i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34F8-B456-4D2C-B6B6-BB4E8935ED8C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43840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实验内容</a:t>
            </a:r>
          </a:p>
        </p:txBody>
      </p:sp>
      <p:sp>
        <p:nvSpPr>
          <p:cNvPr id="4" name="矩形 3"/>
          <p:cNvSpPr/>
          <p:nvPr/>
        </p:nvSpPr>
        <p:spPr>
          <a:xfrm>
            <a:off x="1389378" y="1331387"/>
            <a:ext cx="10172701" cy="3674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 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CREATE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创建基本表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更改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基本表的定义，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增加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列，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删除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列，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修改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列的数据类型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创建表的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升降序索引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取消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表、表的索引或表的约束 </a:t>
            </a:r>
          </a:p>
          <a:p>
            <a:pPr>
              <a:lnSpc>
                <a:spcPct val="200000"/>
              </a:lnSpc>
            </a:pPr>
            <a:endParaRPr lang="zh-CN" altLang="en-US" sz="2400" b="0" i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34F8-B456-4D2C-B6B6-BB4E8935ED8C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43840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实验示例</a:t>
            </a:r>
          </a:p>
        </p:txBody>
      </p:sp>
      <p:sp>
        <p:nvSpPr>
          <p:cNvPr id="4" name="矩形 3"/>
          <p:cNvSpPr/>
          <p:nvPr/>
        </p:nvSpPr>
        <p:spPr>
          <a:xfrm>
            <a:off x="1389378" y="1331387"/>
            <a:ext cx="1017270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语句创建关系数据库表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 marL="457200" indent="-457200">
              <a:lnSpc>
                <a:spcPct val="150000"/>
              </a:lnSpc>
              <a:buAutoNum type="arabicParenR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创建人员表 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PERSON(P#, 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Pname,Page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 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Pgender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，其中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P#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 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PERSON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的主键，具有唯一性约束，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具有约束：大于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18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2400" b="0" i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34F8-B456-4D2C-B6B6-BB4E8935ED8C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389378" y="3477151"/>
            <a:ext cx="6096000" cy="230832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CREATE TABLE </a:t>
            </a:r>
            <a:r>
              <a:rPr lang="zh-CN" altLang="en-US" sz="2400" dirty="0"/>
              <a:t>PERSON</a:t>
            </a:r>
          </a:p>
          <a:p>
            <a:r>
              <a:rPr lang="zh-CN" altLang="en-US" sz="2400" b="1" dirty="0">
                <a:solidFill>
                  <a:srgbClr val="FF0000"/>
                </a:solidFill>
              </a:rPr>
              <a:t>( </a:t>
            </a:r>
            <a:r>
              <a:rPr lang="zh-CN" altLang="en-US" sz="2400" dirty="0"/>
              <a:t>P# CHAR(8) </a:t>
            </a:r>
            <a:r>
              <a:rPr lang="zh-CN" altLang="en-US" sz="2400" dirty="0">
                <a:solidFill>
                  <a:srgbClr val="FF0000"/>
                </a:solidFill>
              </a:rPr>
              <a:t>NOT NULL UNIQUE</a:t>
            </a:r>
            <a:r>
              <a:rPr lang="zh-CN" altLang="en-US" sz="2400" dirty="0"/>
              <a:t>,</a:t>
            </a:r>
          </a:p>
          <a:p>
            <a:r>
              <a:rPr lang="zh-CN" altLang="en-US" sz="2400" dirty="0"/>
              <a:t>Pname CHAR(20) </a:t>
            </a:r>
            <a:r>
              <a:rPr lang="zh-CN" altLang="en-US" sz="2400" dirty="0">
                <a:solidFill>
                  <a:srgbClr val="FF0000"/>
                </a:solidFill>
              </a:rPr>
              <a:t>NOT NULL</a:t>
            </a:r>
            <a:r>
              <a:rPr lang="zh-CN" altLang="en-US" sz="2400" dirty="0"/>
              <a:t>,</a:t>
            </a:r>
          </a:p>
          <a:p>
            <a:r>
              <a:rPr lang="zh-CN" altLang="en-US" sz="2400" dirty="0"/>
              <a:t>Page INT,</a:t>
            </a:r>
          </a:p>
          <a:p>
            <a:r>
              <a:rPr lang="zh-CN" altLang="en-US" sz="2400" dirty="0">
                <a:solidFill>
                  <a:srgbClr val="FF0000"/>
                </a:solidFill>
              </a:rPr>
              <a:t>PRIMARY KEY(P#), </a:t>
            </a:r>
            <a:endParaRPr lang="en-US" altLang="zh-CN" sz="2400" dirty="0">
              <a:solidFill>
                <a:srgbClr val="FF0000"/>
              </a:solidFill>
            </a:endParaRPr>
          </a:p>
          <a:p>
            <a:r>
              <a:rPr lang="zh-CN" altLang="en-US" sz="2400" dirty="0">
                <a:solidFill>
                  <a:srgbClr val="FF0000"/>
                </a:solidFill>
              </a:rPr>
              <a:t>CHECK(Page&gt;18) </a:t>
            </a:r>
            <a:r>
              <a:rPr lang="zh-CN" altLang="en-US" sz="2400" b="1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7" name="矩形 6"/>
          <p:cNvSpPr/>
          <p:nvPr/>
        </p:nvSpPr>
        <p:spPr>
          <a:xfrm>
            <a:off x="7781289" y="3477151"/>
            <a:ext cx="441071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create table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勿漏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圆括号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400" b="0" i="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注意标点切换成英文输入，中文括号会报错。</a:t>
            </a:r>
            <a:endParaRPr lang="en-US" altLang="zh-CN" sz="2400" b="0" i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43840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实验示例</a:t>
            </a:r>
          </a:p>
        </p:txBody>
      </p:sp>
      <p:sp>
        <p:nvSpPr>
          <p:cNvPr id="4" name="矩形 3"/>
          <p:cNvSpPr/>
          <p:nvPr/>
        </p:nvSpPr>
        <p:spPr>
          <a:xfrm>
            <a:off x="1389378" y="1331387"/>
            <a:ext cx="10172701" cy="1135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2)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创建房间表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ROOM(R#, name, 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Rarea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PR(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P#,R#,Date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R#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ROOM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的主键，具有唯一性约束。</a:t>
            </a:r>
            <a:endParaRPr lang="zh-CN" altLang="en-US" sz="2400" b="0" i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334F8-B456-4D2C-B6B6-BB4E8935ED8C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389378" y="2887871"/>
            <a:ext cx="6096000" cy="193899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CREATE TABLE </a:t>
            </a:r>
            <a:r>
              <a:rPr lang="zh-CN" altLang="en-US" sz="2400" dirty="0"/>
              <a:t>ROOM</a:t>
            </a:r>
          </a:p>
          <a:p>
            <a:r>
              <a:rPr lang="zh-CN" altLang="en-US" sz="2400" dirty="0"/>
              <a:t>(R# CHAR(8) </a:t>
            </a:r>
            <a:r>
              <a:rPr lang="zh-CN" altLang="en-US" sz="2400" dirty="0">
                <a:solidFill>
                  <a:srgbClr val="FF0000"/>
                </a:solidFill>
              </a:rPr>
              <a:t>NOT NULL UNIQUE</a:t>
            </a:r>
            <a:r>
              <a:rPr lang="zh-CN" altLang="en-US" sz="2400" dirty="0"/>
              <a:t>,</a:t>
            </a:r>
          </a:p>
          <a:p>
            <a:r>
              <a:rPr lang="zh-CN" altLang="en-US" sz="2400" dirty="0"/>
              <a:t>Rname CHAR(20),</a:t>
            </a:r>
          </a:p>
          <a:p>
            <a:r>
              <a:rPr lang="zh-CN" altLang="en-US" sz="2400" dirty="0"/>
              <a:t>Rarea FLOAT(10),</a:t>
            </a:r>
          </a:p>
          <a:p>
            <a:r>
              <a:rPr lang="zh-CN" altLang="en-US" sz="2400" dirty="0">
                <a:solidFill>
                  <a:srgbClr val="FF0000"/>
                </a:solidFill>
              </a:rPr>
              <a:t>PRIMARY KEY(R#)</a:t>
            </a:r>
            <a:r>
              <a:rPr lang="zh-CN" altLang="en-US" sz="2400" dirty="0"/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43840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实验示例</a:t>
            </a:r>
          </a:p>
        </p:txBody>
      </p:sp>
      <p:sp>
        <p:nvSpPr>
          <p:cNvPr id="4" name="矩形 3"/>
          <p:cNvSpPr/>
          <p:nvPr/>
        </p:nvSpPr>
        <p:spPr>
          <a:xfrm>
            <a:off x="1389378" y="1087547"/>
            <a:ext cx="1017270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创建表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P-R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P#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R#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是外键</a:t>
            </a:r>
            <a:endParaRPr lang="zh-CN" altLang="en-US" sz="2400" dirty="0"/>
          </a:p>
          <a:p>
            <a:pPr>
              <a:lnSpc>
                <a:spcPct val="150000"/>
              </a:lnSpc>
            </a:pPr>
            <a:endParaRPr lang="zh-CN" altLang="en-US" sz="2400" b="0" i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112510"/>
            <a:ext cx="2743200" cy="365125"/>
          </a:xfrm>
        </p:spPr>
        <p:txBody>
          <a:bodyPr/>
          <a:lstStyle/>
          <a:p>
            <a:fld id="{775334F8-B456-4D2C-B6B6-BB4E8935ED8C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531618" y="1740387"/>
            <a:ext cx="9822182" cy="304698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CREATE TABLE </a:t>
            </a:r>
            <a:r>
              <a:rPr lang="en-US" altLang="zh-CN" sz="2400" dirty="0"/>
              <a:t>PR(</a:t>
            </a:r>
          </a:p>
          <a:p>
            <a:r>
              <a:rPr lang="en-US" altLang="zh-CN" sz="2400" dirty="0"/>
              <a:t>P# CHAR(8) </a:t>
            </a:r>
            <a:r>
              <a:rPr lang="en-US" altLang="zh-CN" sz="2400" dirty="0">
                <a:solidFill>
                  <a:srgbClr val="FF0000"/>
                </a:solidFill>
              </a:rPr>
              <a:t>NOT NULL UNIQUE</a:t>
            </a:r>
            <a:r>
              <a:rPr lang="en-US" altLang="zh-CN" sz="2400" dirty="0"/>
              <a:t>,</a:t>
            </a:r>
          </a:p>
          <a:p>
            <a:r>
              <a:rPr lang="en-US" altLang="zh-CN" sz="2400" dirty="0"/>
              <a:t>R# CHAR(8) </a:t>
            </a:r>
            <a:r>
              <a:rPr lang="en-US" altLang="zh-CN" sz="2400" dirty="0">
                <a:solidFill>
                  <a:srgbClr val="FF0000"/>
                </a:solidFill>
              </a:rPr>
              <a:t>NOT NULL UNIQUE,</a:t>
            </a:r>
          </a:p>
          <a:p>
            <a:endParaRPr lang="en-US" altLang="zh-CN" sz="2400" dirty="0"/>
          </a:p>
          <a:p>
            <a:r>
              <a:rPr lang="en-US" altLang="zh-CN" sz="2400" dirty="0">
                <a:solidFill>
                  <a:srgbClr val="FF0000"/>
                </a:solidFill>
              </a:rPr>
              <a:t>PRIMARY KEY(P#,R#),</a:t>
            </a:r>
          </a:p>
          <a:p>
            <a:r>
              <a:rPr lang="en-US" altLang="zh-CN" sz="2400" dirty="0">
                <a:solidFill>
                  <a:srgbClr val="FF0000"/>
                </a:solidFill>
              </a:rPr>
              <a:t>FOREIGN KEY</a:t>
            </a:r>
            <a:r>
              <a:rPr lang="en-US" altLang="zh-CN" sz="2400" dirty="0"/>
              <a:t>(P#) </a:t>
            </a:r>
            <a:r>
              <a:rPr lang="en-US" altLang="zh-CN" sz="2400" dirty="0">
                <a:solidFill>
                  <a:srgbClr val="FF0000"/>
                </a:solidFill>
              </a:rPr>
              <a:t>REFERENCES </a:t>
            </a:r>
            <a:r>
              <a:rPr lang="en-US" altLang="zh-CN" sz="2400" dirty="0"/>
              <a:t>PERSON</a:t>
            </a:r>
            <a:r>
              <a:rPr lang="en-US" altLang="zh-CN" sz="2400" dirty="0">
                <a:solidFill>
                  <a:srgbClr val="FF0000"/>
                </a:solidFill>
              </a:rPr>
              <a:t> ON DELETE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CASCADE,</a:t>
            </a:r>
          </a:p>
          <a:p>
            <a:r>
              <a:rPr lang="en-US" altLang="zh-CN" sz="2400" dirty="0">
                <a:solidFill>
                  <a:srgbClr val="FF0000"/>
                </a:solidFill>
              </a:rPr>
              <a:t>FOREIGN KEY</a:t>
            </a:r>
            <a:r>
              <a:rPr lang="en-US" altLang="zh-CN" sz="2400" dirty="0"/>
              <a:t>(R#) </a:t>
            </a:r>
            <a:r>
              <a:rPr lang="en-US" altLang="zh-CN" sz="2400" dirty="0">
                <a:solidFill>
                  <a:srgbClr val="FF0000"/>
                </a:solidFill>
              </a:rPr>
              <a:t>REFERENCES</a:t>
            </a:r>
            <a:r>
              <a:rPr lang="en-US" altLang="zh-CN" sz="2400" dirty="0"/>
              <a:t> ROOM </a:t>
            </a:r>
            <a:r>
              <a:rPr lang="en-US" altLang="zh-CN" sz="2400" dirty="0">
                <a:solidFill>
                  <a:srgbClr val="FF0000"/>
                </a:solidFill>
              </a:rPr>
              <a:t>ON DELETE CASCADE</a:t>
            </a:r>
          </a:p>
          <a:p>
            <a:r>
              <a:rPr lang="en-US" altLang="zh-CN" sz="2400" dirty="0"/>
              <a:t>)</a:t>
            </a:r>
            <a:endParaRPr lang="zh-CN" altLang="en-US" sz="2400" dirty="0"/>
          </a:p>
        </p:txBody>
      </p:sp>
      <p:sp>
        <p:nvSpPr>
          <p:cNvPr id="7" name="矩形 6"/>
          <p:cNvSpPr/>
          <p:nvPr/>
        </p:nvSpPr>
        <p:spPr>
          <a:xfrm>
            <a:off x="3982720" y="3576320"/>
            <a:ext cx="1747520" cy="406400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箭头连接符 8"/>
          <p:cNvCxnSpPr/>
          <p:nvPr/>
        </p:nvCxnSpPr>
        <p:spPr>
          <a:xfrm flipV="1">
            <a:off x="5567680" y="3271520"/>
            <a:ext cx="40640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5974080" y="308685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指明主表</a:t>
            </a:r>
          </a:p>
        </p:txBody>
      </p:sp>
      <p:sp>
        <p:nvSpPr>
          <p:cNvPr id="11" name="矩形 10"/>
          <p:cNvSpPr/>
          <p:nvPr/>
        </p:nvSpPr>
        <p:spPr>
          <a:xfrm>
            <a:off x="6706730" y="3957598"/>
            <a:ext cx="3090904" cy="414824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箭头连接符 11"/>
          <p:cNvCxnSpPr/>
          <p:nvPr/>
        </p:nvCxnSpPr>
        <p:spPr>
          <a:xfrm>
            <a:off x="8475980" y="4198750"/>
            <a:ext cx="0" cy="7508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7698184" y="291056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指明主表</a:t>
            </a:r>
          </a:p>
        </p:txBody>
      </p:sp>
      <p:sp>
        <p:nvSpPr>
          <p:cNvPr id="18" name="矩形 17"/>
          <p:cNvSpPr/>
          <p:nvPr/>
        </p:nvSpPr>
        <p:spPr>
          <a:xfrm>
            <a:off x="838200" y="4839333"/>
            <a:ext cx="1110996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注：引用完整性中的任选项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ON DELETE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指出当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主表中被引用主属性删除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可采用如下字段保证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完整性要求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b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选用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RESTRICT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表明被基本表所引用的主属性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不得删除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选用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CASCADE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表明若主表中删除被引用的主属性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则基本表中引用该外键的对应行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随之被删除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选用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SET NULL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选项：置空。（当然此时该列在前面说明应没有 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NOT NULI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限制 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9660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实验示例</a:t>
            </a:r>
          </a:p>
        </p:txBody>
      </p:sp>
      <p:sp>
        <p:nvSpPr>
          <p:cNvPr id="4" name="矩形 3"/>
          <p:cNvSpPr/>
          <p:nvPr/>
        </p:nvSpPr>
        <p:spPr>
          <a:xfrm>
            <a:off x="838200" y="1160121"/>
            <a:ext cx="110083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更改表 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PERSON,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增加属性 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Ptype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（类型是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CHAR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，长度为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），取消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Page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18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的约束。把表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ROOM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中的属性 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Rname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的数据类型改成长度为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b="0" i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112510"/>
            <a:ext cx="2743200" cy="365125"/>
          </a:xfrm>
        </p:spPr>
        <p:txBody>
          <a:bodyPr/>
          <a:lstStyle/>
          <a:p>
            <a:fld id="{775334F8-B456-4D2C-B6B6-BB4E8935ED8C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838200" y="2105381"/>
            <a:ext cx="11353800" cy="120032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ALTER TABLE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PERSON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Rtype CHAR(10)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ALTER TABLE P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RSON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DROP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CONSTRAINT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CK__PERSON__Page__0425A276;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ALTER TABLE ROOM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ALTER COLUMN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Rname CHAR(40)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172960" y="2458720"/>
            <a:ext cx="4673600" cy="447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箭头连接符 7"/>
          <p:cNvCxnSpPr/>
          <p:nvPr/>
        </p:nvCxnSpPr>
        <p:spPr>
          <a:xfrm>
            <a:off x="9408160" y="2905760"/>
            <a:ext cx="0" cy="8128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031" y="3510911"/>
            <a:ext cx="3574169" cy="3220206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5527040" y="3878112"/>
            <a:ext cx="66649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可在“对象资源管理器”中查看该表的约束名</a:t>
            </a:r>
            <a:endParaRPr lang="zh-CN" altLang="en-US" sz="2400" b="0" i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6" name="直接箭头连接符 15"/>
          <p:cNvCxnSpPr/>
          <p:nvPr/>
        </p:nvCxnSpPr>
        <p:spPr>
          <a:xfrm flipV="1">
            <a:off x="4267200" y="4572000"/>
            <a:ext cx="1666240" cy="13614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-267610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实验示例</a:t>
            </a:r>
          </a:p>
        </p:txBody>
      </p:sp>
      <p:sp>
        <p:nvSpPr>
          <p:cNvPr id="4" name="矩形 3"/>
          <p:cNvSpPr/>
          <p:nvPr/>
        </p:nvSpPr>
        <p:spPr>
          <a:xfrm>
            <a:off x="838200" y="757870"/>
            <a:ext cx="11353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AutoNum type="arabicParenR" startAt="5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删除表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ROOM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的一个属性 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Rarea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ALTER TABLE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ROOM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DROP 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COLUMN 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Rarea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400" b="0" i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38200" y="1417834"/>
            <a:ext cx="10245804" cy="544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6)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取消表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DROP TABLE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7)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ROOM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表创建按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R#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降序排列的索引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CREATE INDEX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XCNO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ON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ROOM(R#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DESC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8)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 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PERSON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表创建按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P#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升序排列的索引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CREATE INDEX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XSNO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ON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PERSON(P#)  (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默认升序）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9)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创建表 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PERSON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的按 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Pname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升序排列的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唯一性索引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CREATE UNIQUE INDEX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RNUA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ON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PERSON (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Pname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ASC)</a:t>
            </a:r>
            <a:b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10)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取消 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PERSON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P#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升序索引 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DROP INDEX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PERSON.XSNO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43840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练习</a:t>
            </a:r>
          </a:p>
        </p:txBody>
      </p:sp>
      <p:sp>
        <p:nvSpPr>
          <p:cNvPr id="4" name="矩形 3"/>
          <p:cNvSpPr/>
          <p:nvPr/>
        </p:nvSpPr>
        <p:spPr>
          <a:xfrm>
            <a:off x="838200" y="1225689"/>
            <a:ext cx="11353800" cy="55670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创建数据库表 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CUSTOMERS(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CID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 CNAME,CITY, DISCNT)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，数据库表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AGENTS(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AID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 ANAME,CITY, PERCENT)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，数据库表 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PRODUCTS(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PID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 PNAME)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，其中，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CID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AID, PID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分别是各表的主键，具有唯一性约束，表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PERCENT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属性具有小于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的约束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(2)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创建数据库表 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ORDERS( ORDNA, MONTH,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CID,AID,PID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,QTY, DOLLARS)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其中，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 ORDNA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是主键，具有唯一性约束。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CID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是外键，分别参照的是表 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CUSTOMERS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CID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字段，表 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字段，表 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PRODUCTS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字段。</a:t>
            </a:r>
            <a:b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(3)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增加数据库表 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PRODUCTS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的三个属性列：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CITY, QUANTITY, PRICE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b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(4)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为以上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个表建立各自的按主键增序排列的索引。</a:t>
            </a:r>
            <a:b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(5)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取消步骤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(4)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建立的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个索引。</a:t>
            </a:r>
            <a:endParaRPr lang="zh-CN" altLang="en-US" sz="2400" b="0" i="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112510"/>
            <a:ext cx="2743200" cy="365125"/>
          </a:xfrm>
        </p:spPr>
        <p:txBody>
          <a:bodyPr/>
          <a:lstStyle/>
          <a:p>
            <a:fld id="{775334F8-B456-4D2C-B6B6-BB4E8935ED8C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43840"/>
            <a:ext cx="10515600" cy="1325563"/>
          </a:xfrm>
        </p:spPr>
        <p:txBody>
          <a:bodyPr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练习</a:t>
            </a:r>
          </a:p>
        </p:txBody>
      </p:sp>
      <p:sp>
        <p:nvSpPr>
          <p:cNvPr id="4" name="矩形 3"/>
          <p:cNvSpPr/>
          <p:nvPr/>
        </p:nvSpPr>
        <p:spPr>
          <a:xfrm>
            <a:off x="838200" y="1225689"/>
            <a:ext cx="11353800" cy="2797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(6)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CUSTOMERS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的按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CNAME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降序排列的唯一性索引。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(7)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删除步骤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(3)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创建的表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AGENTS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CITY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属性。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(8)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修改表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CUSTOMERS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CITY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属性为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CHAR(40)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(9)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删除步骤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创建的表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ORDERS</a:t>
            </a:r>
          </a:p>
          <a:p>
            <a:pPr>
              <a:lnSpc>
                <a:spcPct val="150000"/>
              </a:lnSpc>
            </a:pP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112510"/>
            <a:ext cx="2743200" cy="365125"/>
          </a:xfrm>
        </p:spPr>
        <p:txBody>
          <a:bodyPr/>
          <a:lstStyle/>
          <a:p>
            <a:fld id="{775334F8-B456-4D2C-B6B6-BB4E8935ED8C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</TotalTime>
  <Words>914</Words>
  <Application>Microsoft Office PowerPoint</Application>
  <PresentationFormat>宽屏</PresentationFormat>
  <Paragraphs>87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7" baseType="lpstr">
      <vt:lpstr>等线</vt:lpstr>
      <vt:lpstr>等线 Light</vt:lpstr>
      <vt:lpstr>微软雅黑</vt:lpstr>
      <vt:lpstr>Arial</vt:lpstr>
      <vt:lpstr>Times New Roman</vt:lpstr>
      <vt:lpstr>Office 主题​​</vt:lpstr>
      <vt:lpstr>Lecture 2，Fall 2024/2025 数据库系统实验</vt:lpstr>
      <vt:lpstr>本节课提纲</vt:lpstr>
      <vt:lpstr>实验目的</vt:lpstr>
      <vt:lpstr>实验内容</vt:lpstr>
      <vt:lpstr>实验示例</vt:lpstr>
      <vt:lpstr>实验示例</vt:lpstr>
      <vt:lpstr>实验示例</vt:lpstr>
      <vt:lpstr>实验示例</vt:lpstr>
      <vt:lpstr>实验示例</vt:lpstr>
      <vt:lpstr>练习</vt:lpstr>
      <vt:lpstr>练习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1，Fall 2017/2018 数据库系统实验</dc:title>
  <dc:creator>Genan Dai</dc:creator>
  <cp:lastModifiedBy>凯淇 吴</cp:lastModifiedBy>
  <cp:revision>61</cp:revision>
  <dcterms:created xsi:type="dcterms:W3CDTF">2021-09-06T04:39:16Z</dcterms:created>
  <dcterms:modified xsi:type="dcterms:W3CDTF">2024-09-13T07:47:30Z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2052-11.1.0.10702</vt:lpwstr>
  </property>
</Properties>
</file>